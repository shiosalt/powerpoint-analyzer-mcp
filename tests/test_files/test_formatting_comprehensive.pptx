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34B15FF-ED84-4EF1-8C07-A333BE2779FC}">
          <p14:sldIdLst>
            <p14:sldId id="256"/>
          </p14:sldIdLst>
        </p14:section>
        <p14:section name="セクション①" id="{63514C02-4EE5-4C57-A5F8-8882DB57A504}">
          <p14:sldIdLst>
            <p14:sldId id="257"/>
            <p14:sldId id="258"/>
            <p14:sldId id="259"/>
          </p14:sldIdLst>
        </p14:section>
        <p14:section name="セクション②" id="{9B43267F-A7AF-4451-BD95-6682E022F294}">
          <p14:sldIdLst>
            <p14:sldId id="260"/>
            <p14:sldId id="261"/>
            <p14:sldId id="262"/>
          </p14:sldIdLst>
        </p14:section>
        <p14:section name="highlighted_section" id="{22F9322E-043E-490B-AFDB-FFD7E64DEDFF}">
          <p14:sldIdLst>
            <p14:sldId id="263"/>
            <p14:sldId id="264"/>
          </p14:sldIdLst>
        </p14:section>
        <p14:section name="this is table section" id="{CE21AA40-69BB-454F-874D-E803C0BB72C9}">
          <p14:sldIdLst>
            <p14:sldId id="265"/>
            <p14:sldId id="266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3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Bold Text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0"/>
              <a:t>This is </a:t>
            </a:r>
            <a:r>
              <a:rPr b="1"/>
              <a:t>bold text</a:t>
            </a:r>
            <a:r>
              <a:rPr b="0"/>
              <a:t> and this is normal text.</a:t>
            </a:r>
          </a:p>
          <a:p>
            <a:r>
              <a:rPr b="1"/>
              <a:t>This entire paragraph is bold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Italic Text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text contains </a:t>
            </a:r>
            <a:r>
              <a:rPr i="1" dirty="0"/>
              <a:t>italic formatting</a:t>
            </a:r>
            <a:r>
              <a:rPr dirty="0"/>
              <a:t> in the middle.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Underlined Text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text has </a:t>
            </a:r>
            <a:r>
              <a:rPr u="sng" dirty="0"/>
              <a:t>underlined sections</a:t>
            </a:r>
            <a:r>
              <a:rPr dirty="0"/>
              <a:t> for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Formatting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text has </a:t>
            </a:r>
            <a:r>
              <a:rPr b="1" i="1"/>
              <a:t>bold and italic</a:t>
            </a:r>
            <a:r>
              <a:t> formatting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Hyperlink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Visit our </a:t>
            </a:r>
            <a:r>
              <a:rPr dirty="0">
                <a:hlinkClick r:id="rId2"/>
              </a:rPr>
              <a:t>website</a:t>
            </a:r>
            <a:r>
              <a:rPr dirty="0"/>
              <a:t> for more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 Size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/>
              <a:t>Small text </a:t>
            </a:r>
            <a:r>
              <a:rPr sz="1400"/>
              <a:t>Medium text </a:t>
            </a:r>
            <a:r>
              <a:rPr sz="1800"/>
              <a:t>Large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 Color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</a:rPr>
              <a:t>Red text </a:t>
            </a:r>
            <a:r>
              <a:rPr>
                <a:solidFill>
                  <a:srgbClr val="0000FF"/>
                </a:solidFill>
              </a:rPr>
              <a:t>Blue text </a:t>
            </a:r>
            <a:r>
              <a:rPr>
                <a:solidFill>
                  <a:srgbClr val="00FF00"/>
                </a:solidFill>
              </a:rPr>
              <a:t>Green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9C3D4-4E2B-6A66-F3E8-90CB76B89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highlighted text test slides 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D53647-4E47-D351-95F7-B2209DBF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this is </a:t>
            </a:r>
            <a:r>
              <a:rPr lang="en-US" altLang="ja-JP" dirty="0">
                <a:highlight>
                  <a:srgbClr val="FFFF00"/>
                </a:highlight>
              </a:rPr>
              <a:t>Highlighted</a:t>
            </a:r>
            <a:r>
              <a:rPr lang="en-US" altLang="ja-JP" dirty="0"/>
              <a:t> text.</a:t>
            </a:r>
          </a:p>
          <a:p>
            <a:endParaRPr lang="en-US" altLang="ja-JP" dirty="0"/>
          </a:p>
          <a:p>
            <a:r>
              <a:rPr lang="en-US" altLang="ja-JP" dirty="0"/>
              <a:t>this is </a:t>
            </a:r>
            <a:r>
              <a:rPr lang="en-US" altLang="ja-JP" dirty="0">
                <a:highlight>
                  <a:srgbClr val="000080"/>
                </a:highlight>
              </a:rPr>
              <a:t>Highlighted</a:t>
            </a:r>
            <a:r>
              <a:rPr lang="en-US" altLang="ja-JP" dirty="0"/>
              <a:t> text too.</a:t>
            </a:r>
          </a:p>
          <a:p>
            <a:endParaRPr lang="ja-JP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99EFC-C32C-BF76-F1DC-AFA26DC6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strikethrough test slide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072A46-F940-4873-4385-38CD32FD3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af-ZA" altLang="ja-JP" dirty="0"/>
              <a:t>this is a </a:t>
            </a:r>
            <a:r>
              <a:rPr kumimoji="1" lang="af-ZA" altLang="ja-JP" strike="sngStrike" dirty="0"/>
              <a:t>strikethroughed</a:t>
            </a:r>
            <a:r>
              <a:rPr kumimoji="1" lang="af-ZA" altLang="ja-JP" dirty="0"/>
              <a:t> text.</a:t>
            </a:r>
          </a:p>
          <a:p>
            <a:endParaRPr kumimoji="1" lang="en-US" altLang="ja-JP" dirty="0"/>
          </a:p>
          <a:p>
            <a:r>
              <a:rPr kumimoji="1" lang="af-ZA" altLang="ja-JP" dirty="0"/>
              <a:t>this is a </a:t>
            </a:r>
            <a:r>
              <a:rPr kumimoji="1" lang="af-ZA" altLang="ja-JP" strike="sngStrike" dirty="0"/>
              <a:t>strikethroughed</a:t>
            </a:r>
            <a:r>
              <a:rPr kumimoji="1" lang="af-ZA" altLang="ja-JP" dirty="0"/>
              <a:t> text,too.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31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04031-FFA4-E606-7E01-9533B2A2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table test slide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94CC4423-D757-B299-AE50-73FEADC0B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589353"/>
              </p:ext>
            </p:extLst>
          </p:nvPr>
        </p:nvGraphicFramePr>
        <p:xfrm>
          <a:off x="1676399" y="1920240"/>
          <a:ext cx="6851583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59">
                  <a:extLst>
                    <a:ext uri="{9D8B030D-6E8A-4147-A177-3AD203B41FA5}">
                      <a16:colId xmlns:a16="http://schemas.microsoft.com/office/drawing/2014/main" val="1433644907"/>
                    </a:ext>
                  </a:extLst>
                </a:gridCol>
                <a:gridCol w="3474763">
                  <a:extLst>
                    <a:ext uri="{9D8B030D-6E8A-4147-A177-3AD203B41FA5}">
                      <a16:colId xmlns:a16="http://schemas.microsoft.com/office/drawing/2014/main" val="1931103551"/>
                    </a:ext>
                  </a:extLst>
                </a:gridCol>
                <a:gridCol w="2283861">
                  <a:extLst>
                    <a:ext uri="{9D8B030D-6E8A-4147-A177-3AD203B41FA5}">
                      <a16:colId xmlns:a16="http://schemas.microsoft.com/office/drawing/2014/main" val="1433446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課題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補足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1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保存倉庫毎の品質ばらつき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町田は温度管理不明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94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輸入時のコンテナ毎の品質ばらつき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b3</a:t>
                      </a:r>
                      <a:r>
                        <a:rPr kumimoji="1" lang="ja-JP" altLang="en-US" dirty="0"/>
                        <a:t>と</a:t>
                      </a:r>
                      <a:r>
                        <a:rPr kumimoji="1" lang="en-US" altLang="ja-JP" dirty="0"/>
                        <a:t>e2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39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1" i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kumimoji="1" lang="ja-JP" altLang="en-US" sz="20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i="1" strike="noStrike" dirty="0"/>
                        <a:t>盗難対策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>
                          <a:highlight>
                            <a:srgbClr val="FFFF00"/>
                          </a:highlight>
                        </a:rPr>
                        <a:t>b3</a:t>
                      </a:r>
                      <a:r>
                        <a:rPr kumimoji="1" lang="ja-JP" altLang="en-US" sz="2000" b="1" i="1" dirty="0">
                          <a:highlight>
                            <a:srgbClr val="FFFF00"/>
                          </a:highlight>
                        </a:rPr>
                        <a:t>で顕著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36690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530B41-99DA-BF5E-B4BD-C077E86A6813}"/>
              </a:ext>
            </a:extLst>
          </p:cNvPr>
          <p:cNvSpPr txBox="1"/>
          <p:nvPr/>
        </p:nvSpPr>
        <p:spPr>
          <a:xfrm>
            <a:off x="866274" y="144021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バナナ</a:t>
            </a:r>
          </a:p>
        </p:txBody>
      </p:sp>
    </p:spTree>
    <p:extLst>
      <p:ext uri="{BB962C8B-B14F-4D97-AF65-F5344CB8AC3E}">
        <p14:creationId xmlns:p14="http://schemas.microsoft.com/office/powerpoint/2010/main" val="190714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DA134E-EE89-7489-E626-6D24722DD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タイトルのないページ</a:t>
            </a:r>
          </a:p>
        </p:txBody>
      </p:sp>
    </p:spTree>
    <p:extLst>
      <p:ext uri="{BB962C8B-B14F-4D97-AF65-F5344CB8AC3E}">
        <p14:creationId xmlns:p14="http://schemas.microsoft.com/office/powerpoint/2010/main" val="79580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6142-CFD4-956E-89F1-163615DC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254C5C-DEA5-44C7-15F1-56FC6394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table test slide</a:t>
            </a:r>
            <a:r>
              <a:rPr kumimoji="1" lang="ja-JP" altLang="en-US" dirty="0"/>
              <a:t> りんご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8CD5D6E-FBB9-4FB1-9E72-95193951F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998238"/>
              </p:ext>
            </p:extLst>
          </p:nvPr>
        </p:nvGraphicFramePr>
        <p:xfrm>
          <a:off x="1455019" y="4521334"/>
          <a:ext cx="4937760" cy="204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433644907"/>
                    </a:ext>
                  </a:extLst>
                </a:gridCol>
                <a:gridCol w="845419">
                  <a:extLst>
                    <a:ext uri="{9D8B030D-6E8A-4147-A177-3AD203B41FA5}">
                      <a16:colId xmlns:a16="http://schemas.microsoft.com/office/drawing/2014/main" val="1931103551"/>
                    </a:ext>
                  </a:extLst>
                </a:gridCol>
                <a:gridCol w="800501">
                  <a:extLst>
                    <a:ext uri="{9D8B030D-6E8A-4147-A177-3AD203B41FA5}">
                      <a16:colId xmlns:a16="http://schemas.microsoft.com/office/drawing/2014/main" val="25932719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33446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head1</a:t>
                      </a:r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dirty="0"/>
                        <a:t>head2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1044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a1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a2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94566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b1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dirty="0"/>
                        <a:t>b2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dirty="0"/>
                        <a:t>b3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sz="2000" b="1" i="1" dirty="0">
                          <a:highlight>
                            <a:srgbClr val="FFFF00"/>
                          </a:highlight>
                        </a:rPr>
                        <a:t>C3</a:t>
                      </a:r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39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1" i="1" dirty="0">
                          <a:solidFill>
                            <a:srgbClr val="FF0000"/>
                          </a:solidFill>
                        </a:rPr>
                        <a:t>C1</a:t>
                      </a:r>
                      <a:endParaRPr kumimoji="1" lang="ja-JP" altLang="en-US" sz="20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</a:t>
                      </a:r>
                      <a:endParaRPr kumimoji="1" lang="ja-JP" altLang="en-US" sz="2000" b="1" i="1" strike="sngStrik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C2-2</a:t>
                      </a:r>
                      <a:endParaRPr kumimoji="1" lang="ja-JP" altLang="en-US" sz="2000" b="1" i="1" strike="sngStrik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36690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8EF5E2-B6B0-10ED-9BDB-8AB111AE10D0}"/>
              </a:ext>
            </a:extLst>
          </p:cNvPr>
          <p:cNvSpPr txBox="1"/>
          <p:nvPr/>
        </p:nvSpPr>
        <p:spPr>
          <a:xfrm>
            <a:off x="991402" y="2791326"/>
            <a:ext cx="140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Table Name2</a:t>
            </a:r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25AFBB8-CA18-EC81-426D-540BD02A5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816485"/>
              </p:ext>
            </p:extLst>
          </p:nvPr>
        </p:nvGraphicFramePr>
        <p:xfrm>
          <a:off x="1119739" y="1313046"/>
          <a:ext cx="7562249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000">
                  <a:extLst>
                    <a:ext uri="{9D8B030D-6E8A-4147-A177-3AD203B41FA5}">
                      <a16:colId xmlns:a16="http://schemas.microsoft.com/office/drawing/2014/main" val="46205011"/>
                    </a:ext>
                  </a:extLst>
                </a:gridCol>
                <a:gridCol w="2259000">
                  <a:extLst>
                    <a:ext uri="{9D8B030D-6E8A-4147-A177-3AD203B41FA5}">
                      <a16:colId xmlns:a16="http://schemas.microsoft.com/office/drawing/2014/main" val="2222435913"/>
                    </a:ext>
                  </a:extLst>
                </a:gridCol>
                <a:gridCol w="3044249">
                  <a:extLst>
                    <a:ext uri="{9D8B030D-6E8A-4147-A177-3AD203B41FA5}">
                      <a16:colId xmlns:a16="http://schemas.microsoft.com/office/drawing/2014/main" val="1428640392"/>
                    </a:ext>
                  </a:extLst>
                </a:gridCol>
              </a:tblGrid>
              <a:tr h="3433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課題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補足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81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在庫欠損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これ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69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暖房費用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どれ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41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問題が管理されていない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[</a:t>
                      </a:r>
                      <a:r>
                        <a:rPr kumimoji="1" lang="ja-JP" altLang="en-US" dirty="0"/>
                        <a:t>問題管理</a:t>
                      </a:r>
                      <a:r>
                        <a:rPr kumimoji="1" lang="en-US" altLang="ja-JP" dirty="0"/>
                        <a:t>]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問題を管理する方法の確認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[</a:t>
                      </a:r>
                      <a:r>
                        <a:rPr kumimoji="1" lang="ja-JP" altLang="en-US" dirty="0"/>
                        <a:t>先月</a:t>
                      </a:r>
                      <a:r>
                        <a:rPr kumimoji="1" lang="en-US" altLang="ja-JP" dirty="0"/>
                        <a:t>]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まだでした</a:t>
                      </a:r>
                      <a:endParaRPr kumimoji="1" lang="en-US" altLang="ja-JP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[</a:t>
                      </a:r>
                      <a:r>
                        <a:rPr kumimoji="1" lang="ja-JP" altLang="en-US" dirty="0"/>
                        <a:t>今月</a:t>
                      </a:r>
                      <a:r>
                        <a:rPr kumimoji="1" lang="en-US" altLang="ja-JP" dirty="0"/>
                        <a:t>]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まだでした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[</a:t>
                      </a:r>
                      <a:r>
                        <a:rPr kumimoji="1" lang="ja-JP" altLang="en-US" dirty="0"/>
                        <a:t>残タスク</a:t>
                      </a:r>
                      <a:r>
                        <a:rPr kumimoji="1" lang="en-US" altLang="ja-JP" dirty="0"/>
                        <a:t>]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内容把握を再度行いたい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041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33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92EB-CA66-DEF7-7EAE-DC5D8FFE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83829-BF05-9016-CB80-D7A16882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table test slide</a:t>
            </a:r>
            <a:r>
              <a:rPr kumimoji="1" lang="ja-JP" altLang="en-US" dirty="0"/>
              <a:t> りんご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F04E2997-BA48-28B8-F99C-4D577CEF0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243168"/>
              </p:ext>
            </p:extLst>
          </p:nvPr>
        </p:nvGraphicFramePr>
        <p:xfrm>
          <a:off x="1872114" y="4727084"/>
          <a:ext cx="4937760" cy="204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433644907"/>
                    </a:ext>
                  </a:extLst>
                </a:gridCol>
                <a:gridCol w="845419">
                  <a:extLst>
                    <a:ext uri="{9D8B030D-6E8A-4147-A177-3AD203B41FA5}">
                      <a16:colId xmlns:a16="http://schemas.microsoft.com/office/drawing/2014/main" val="1931103551"/>
                    </a:ext>
                  </a:extLst>
                </a:gridCol>
                <a:gridCol w="800501">
                  <a:extLst>
                    <a:ext uri="{9D8B030D-6E8A-4147-A177-3AD203B41FA5}">
                      <a16:colId xmlns:a16="http://schemas.microsoft.com/office/drawing/2014/main" val="25932719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33446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head1</a:t>
                      </a:r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dirty="0"/>
                        <a:t>head2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1044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a1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a2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94566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b1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dirty="0"/>
                        <a:t>b2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dirty="0"/>
                        <a:t>b3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sz="2000" b="1" i="1" dirty="0">
                          <a:highlight>
                            <a:srgbClr val="FFFF00"/>
                          </a:highlight>
                        </a:rPr>
                        <a:t>C3</a:t>
                      </a:r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39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1" i="1" dirty="0">
                          <a:solidFill>
                            <a:srgbClr val="FF0000"/>
                          </a:solidFill>
                        </a:rPr>
                        <a:t>C1</a:t>
                      </a:r>
                      <a:endParaRPr kumimoji="1" lang="ja-JP" altLang="en-US" sz="20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</a:t>
                      </a:r>
                      <a:endParaRPr kumimoji="1" lang="ja-JP" altLang="en-US" sz="2000" b="1" i="1" strike="sngStrik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C2-2</a:t>
                      </a:r>
                      <a:endParaRPr kumimoji="1" lang="ja-JP" altLang="en-US" sz="2000" b="1" i="1" strike="sngStrik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36690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69FE5D-7D89-E468-3FB7-E7DFEA2149BE}"/>
              </a:ext>
            </a:extLst>
          </p:cNvPr>
          <p:cNvSpPr txBox="1"/>
          <p:nvPr/>
        </p:nvSpPr>
        <p:spPr>
          <a:xfrm>
            <a:off x="565741" y="45424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補足事項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71D0F53-BAFD-9102-358A-992554FC4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49411"/>
              </p:ext>
            </p:extLst>
          </p:nvPr>
        </p:nvGraphicFramePr>
        <p:xfrm>
          <a:off x="1124551" y="985787"/>
          <a:ext cx="7562249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000">
                  <a:extLst>
                    <a:ext uri="{9D8B030D-6E8A-4147-A177-3AD203B41FA5}">
                      <a16:colId xmlns:a16="http://schemas.microsoft.com/office/drawing/2014/main" val="46205011"/>
                    </a:ext>
                  </a:extLst>
                </a:gridCol>
                <a:gridCol w="2259000">
                  <a:extLst>
                    <a:ext uri="{9D8B030D-6E8A-4147-A177-3AD203B41FA5}">
                      <a16:colId xmlns:a16="http://schemas.microsoft.com/office/drawing/2014/main" val="2222435913"/>
                    </a:ext>
                  </a:extLst>
                </a:gridCol>
                <a:gridCol w="3044249">
                  <a:extLst>
                    <a:ext uri="{9D8B030D-6E8A-4147-A177-3AD203B41FA5}">
                      <a16:colId xmlns:a16="http://schemas.microsoft.com/office/drawing/2014/main" val="1428640392"/>
                    </a:ext>
                  </a:extLst>
                </a:gridCol>
              </a:tblGrid>
              <a:tr h="3433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課題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補足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81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加工用不足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社からのジャム用依頼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69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運搬時の破損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運搬業者毎の破損率</a:t>
                      </a:r>
                      <a:endParaRPr kumimoji="1" lang="en-US" altLang="ja-JP" sz="1200" dirty="0"/>
                    </a:p>
                    <a:p>
                      <a:r>
                        <a:rPr kumimoji="1" lang="en-US" altLang="ja-JP" sz="1200" dirty="0"/>
                        <a:t>[</a:t>
                      </a:r>
                      <a:r>
                        <a:rPr kumimoji="1" lang="ja-JP" altLang="en-US" sz="1200" dirty="0"/>
                        <a:t>年間</a:t>
                      </a:r>
                      <a:r>
                        <a:rPr kumimoji="1" lang="en-US" altLang="ja-JP" sz="1200" dirty="0"/>
                        <a:t>]</a:t>
                      </a:r>
                    </a:p>
                    <a:p>
                      <a:r>
                        <a:rPr kumimoji="1" lang="en-US" altLang="ja-JP" sz="1200" dirty="0"/>
                        <a:t>ABC: 230kg(20t)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XYZ: 30kg(6t)</a:t>
                      </a:r>
                    </a:p>
                    <a:p>
                      <a:r>
                        <a:rPr kumimoji="1" lang="ja-JP" altLang="en-US" sz="1200" dirty="0"/>
                        <a:t>社有トラック</a:t>
                      </a:r>
                      <a:r>
                        <a:rPr kumimoji="1" lang="en-US" altLang="ja-JP" sz="1200" dirty="0"/>
                        <a:t>: 103kg(18t)</a:t>
                      </a:r>
                    </a:p>
                    <a:p>
                      <a:r>
                        <a:rPr kumimoji="1" lang="en-US" altLang="ja-JP" sz="1200" dirty="0"/>
                        <a:t>[</a:t>
                      </a:r>
                      <a:r>
                        <a:rPr kumimoji="1" lang="ja-JP" altLang="en-US" sz="1200" dirty="0"/>
                        <a:t>先月</a:t>
                      </a:r>
                      <a:r>
                        <a:rPr kumimoji="1" lang="en-US" altLang="ja-JP" sz="1200" dirty="0"/>
                        <a:t>]</a:t>
                      </a:r>
                    </a:p>
                    <a:p>
                      <a:r>
                        <a:rPr kumimoji="1" lang="en-US" altLang="ja-JP" sz="1200" dirty="0"/>
                        <a:t>ABC: 20kg(1t)</a:t>
                      </a:r>
                    </a:p>
                    <a:p>
                      <a:r>
                        <a:rPr kumimoji="1" lang="ja-JP" altLang="en-US" sz="1200" dirty="0"/>
                        <a:t>社有トラック</a:t>
                      </a:r>
                      <a:r>
                        <a:rPr kumimoji="1" lang="en-US" altLang="ja-JP" sz="1200" dirty="0"/>
                        <a:t>: 50kg(2t)</a:t>
                      </a:r>
                    </a:p>
                    <a:p>
                      <a:r>
                        <a:rPr kumimoji="1" lang="en-US" altLang="ja-JP" sz="1200" dirty="0"/>
                        <a:t>[</a:t>
                      </a:r>
                      <a:r>
                        <a:rPr kumimoji="1" lang="ja-JP" altLang="en-US" sz="1200" dirty="0"/>
                        <a:t>今月</a:t>
                      </a:r>
                      <a:r>
                        <a:rPr kumimoji="1" lang="en-US" altLang="ja-JP" sz="1200" dirty="0"/>
                        <a:t>]</a:t>
                      </a:r>
                    </a:p>
                    <a:p>
                      <a:r>
                        <a:rPr kumimoji="1" lang="en-US" altLang="ja-JP" sz="1200" dirty="0"/>
                        <a:t>ABC: 7kg(0.5t)</a:t>
                      </a:r>
                      <a:br>
                        <a:rPr kumimoji="1" lang="en-US" altLang="ja-JP" sz="1200" dirty="0"/>
                      </a:br>
                      <a:r>
                        <a:rPr kumimoji="1" lang="ja-JP" altLang="en-US" sz="1200" dirty="0"/>
                        <a:t>他は破損なし </a:t>
                      </a:r>
                      <a:r>
                        <a:rPr kumimoji="1" lang="en-US" altLang="ja-JP" sz="1200" dirty="0"/>
                        <a:t>(3t)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41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収穫量が明確でない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先月までの記録が破棄</a:t>
                      </a:r>
                      <a:br>
                        <a:rPr kumimoji="1" lang="en-US" altLang="ja-JP" sz="1200" dirty="0"/>
                      </a:br>
                      <a:r>
                        <a:rPr kumimoji="1" lang="en-US" altLang="ja-JP" sz="1200" dirty="0"/>
                        <a:t>[</a:t>
                      </a:r>
                      <a:r>
                        <a:rPr kumimoji="1" lang="ja-JP" altLang="en-US" sz="1200" dirty="0"/>
                        <a:t>今月</a:t>
                      </a:r>
                      <a:r>
                        <a:rPr kumimoji="1" lang="en-US" altLang="ja-JP" sz="1200" dirty="0"/>
                        <a:t>]</a:t>
                      </a:r>
                      <a:br>
                        <a:rPr kumimoji="1" lang="en-US" altLang="ja-JP" sz="1200" dirty="0"/>
                      </a:br>
                      <a:r>
                        <a:rPr kumimoji="1" lang="en-US" altLang="ja-JP" sz="1200" dirty="0"/>
                        <a:t>30t</a:t>
                      </a:r>
                    </a:p>
                    <a:p>
                      <a:r>
                        <a:rPr kumimoji="1" lang="en-US" altLang="ja-JP" sz="1200" dirty="0"/>
                        <a:t>S,L,M</a:t>
                      </a:r>
                      <a:r>
                        <a:rPr kumimoji="1" lang="ja-JP" altLang="en-US" sz="1200" dirty="0"/>
                        <a:t>含む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041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254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BA3049-6E29-7156-1CF6-17E7A864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text box test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F1C1FD-52AC-C8F9-A61B-D3FC0D276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text 1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318019-0959-5DF9-5B14-8F423134FF43}"/>
              </a:ext>
            </a:extLst>
          </p:cNvPr>
          <p:cNvSpPr txBox="1"/>
          <p:nvPr/>
        </p:nvSpPr>
        <p:spPr>
          <a:xfrm>
            <a:off x="582328" y="26353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text 2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27C915-3171-E52F-706D-E67A3396B25E}"/>
              </a:ext>
            </a:extLst>
          </p:cNvPr>
          <p:cNvSpPr txBox="1"/>
          <p:nvPr/>
        </p:nvSpPr>
        <p:spPr>
          <a:xfrm>
            <a:off x="582328" y="3244334"/>
            <a:ext cx="293574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text 3 with </a:t>
            </a:r>
            <a:r>
              <a:rPr kumimoji="1" lang="en-US" altLang="ja-JP" dirty="0" err="1"/>
              <a:t>background_color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55CCF5-866D-1CB9-2078-1BC32D83E2AA}"/>
              </a:ext>
            </a:extLst>
          </p:cNvPr>
          <p:cNvSpPr txBox="1"/>
          <p:nvPr/>
        </p:nvSpPr>
        <p:spPr>
          <a:xfrm>
            <a:off x="582328" y="4196111"/>
            <a:ext cx="476649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text 4 with </a:t>
            </a:r>
            <a:r>
              <a:rPr kumimoji="1" lang="en-US" altLang="ja-JP" dirty="0" err="1"/>
              <a:t>background_color</a:t>
            </a:r>
            <a:r>
              <a:rPr kumimoji="1" lang="en-US" altLang="ja-JP" dirty="0"/>
              <a:t> with </a:t>
            </a:r>
            <a:r>
              <a:rPr kumimoji="1" lang="en-US" altLang="ja-JP" dirty="0" err="1">
                <a:highlight>
                  <a:srgbClr val="FF0000"/>
                </a:highlight>
              </a:rPr>
              <a:t>hightlight</a:t>
            </a:r>
            <a:r>
              <a:rPr kumimoji="1" lang="en-US" altLang="ja-JP" dirty="0">
                <a:highlight>
                  <a:srgbClr val="FF0000"/>
                </a:highlight>
              </a:rPr>
              <a:t> text</a:t>
            </a:r>
            <a:endParaRPr kumimoji="1" lang="ja-JP" altLang="en-US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1450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08107-7D71-CE03-B7D3-149F3C9B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Space test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AB30ED-A3DB-522A-BDC9-4ABDDAA3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16255"/>
          </a:xfrm>
        </p:spPr>
        <p:txBody>
          <a:bodyPr/>
          <a:lstStyle/>
          <a:p>
            <a:r>
              <a:rPr kumimoji="1" lang="en-US" altLang="ja-JP" dirty="0"/>
              <a:t>here"     "5spaces in </a:t>
            </a:r>
            <a:r>
              <a:rPr kumimoji="1" lang="en-US" altLang="ja-JP" dirty="0" err="1"/>
              <a:t>double_quote</a:t>
            </a:r>
            <a:endParaRPr kumimoji="1" lang="en-US" altLang="ja-JP" dirty="0"/>
          </a:p>
          <a:p>
            <a:r>
              <a:rPr kumimoji="1" lang="en-US" altLang="ja-JP" dirty="0"/>
              <a:t>here     5spaces simple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7A9085-3C4E-E21B-1F6A-C5C0637CEFB3}"/>
              </a:ext>
            </a:extLst>
          </p:cNvPr>
          <p:cNvSpPr txBox="1"/>
          <p:nvPr/>
        </p:nvSpPr>
        <p:spPr>
          <a:xfrm>
            <a:off x="635268" y="2935705"/>
            <a:ext cx="3216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here'     '5spaces in </a:t>
            </a:r>
            <a:r>
              <a:rPr kumimoji="1" lang="en-US" altLang="ja-JP" dirty="0" err="1"/>
              <a:t>single_quote</a:t>
            </a:r>
            <a:endParaRPr kumimoji="1" lang="en-US" altLang="ja-JP" dirty="0"/>
          </a:p>
          <a:p>
            <a:r>
              <a:rPr kumimoji="1" lang="en-US" altLang="ja-JP" dirty="0"/>
              <a:t>here     5spaces simple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9063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1FDEF-E283-8F48-C11B-DD350D452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complex table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94705C-5533-8FF9-C5C6-21399DEA7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F4579602-0564-7414-5A33-ADECDCBEE1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27036"/>
              </p:ext>
            </p:extLst>
          </p:nvPr>
        </p:nvGraphicFramePr>
        <p:xfrm>
          <a:off x="1015466" y="2680924"/>
          <a:ext cx="4937760" cy="204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433644907"/>
                    </a:ext>
                  </a:extLst>
                </a:gridCol>
                <a:gridCol w="845419">
                  <a:extLst>
                    <a:ext uri="{9D8B030D-6E8A-4147-A177-3AD203B41FA5}">
                      <a16:colId xmlns:a16="http://schemas.microsoft.com/office/drawing/2014/main" val="1931103551"/>
                    </a:ext>
                  </a:extLst>
                </a:gridCol>
                <a:gridCol w="800501">
                  <a:extLst>
                    <a:ext uri="{9D8B030D-6E8A-4147-A177-3AD203B41FA5}">
                      <a16:colId xmlns:a16="http://schemas.microsoft.com/office/drawing/2014/main" val="25932719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33446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head1</a:t>
                      </a:r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dirty="0"/>
                        <a:t>head2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head3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1044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a1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a2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94566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kumimoji="1" lang="en-US" altLang="ja-JP" dirty="0"/>
                        <a:t>b1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dirty="0"/>
                        <a:t>b2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dirty="0"/>
                        <a:t>b3</a:t>
                      </a:r>
                      <a:endParaRPr kumimoji="1" lang="ja-JP" altLang="en-US" dirty="0"/>
                    </a:p>
                    <a:p>
                      <a:r>
                        <a:rPr kumimoji="1" lang="en-US" altLang="ja-JP" sz="2000" b="1" i="1" dirty="0">
                          <a:highlight>
                            <a:srgbClr val="FFFF00"/>
                          </a:highlight>
                        </a:rPr>
                        <a:t>C3</a:t>
                      </a:r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39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1" i="1" dirty="0">
                          <a:solidFill>
                            <a:srgbClr val="FF0000"/>
                          </a:solidFill>
                        </a:rPr>
                        <a:t>C1</a:t>
                      </a:r>
                      <a:endParaRPr kumimoji="1" lang="ja-JP" altLang="en-US" sz="20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</a:t>
                      </a:r>
                      <a:endParaRPr kumimoji="1" lang="ja-JP" altLang="en-US" sz="2000" b="1" i="1" strike="sngStrik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strike="sngStrike" dirty="0"/>
                        <a:t>C2-2</a:t>
                      </a:r>
                      <a:endParaRPr kumimoji="1" lang="ja-JP" altLang="en-US" sz="2000" b="1" i="1" strike="sngStrik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2000" b="1" i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36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6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413</Words>
  <Application>Microsoft Office PowerPoint</Application>
  <PresentationFormat>画面に合わせる (4:3)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Bold Text Test Slide</vt:lpstr>
      <vt:lpstr>Italic Text Test Slide</vt:lpstr>
      <vt:lpstr>Underlined Text Test Slide</vt:lpstr>
      <vt:lpstr>Mixed Formatting Test Slide</vt:lpstr>
      <vt:lpstr>Hyperlink Test Slide</vt:lpstr>
      <vt:lpstr>Font Size Test Slide</vt:lpstr>
      <vt:lpstr>Font Color Test Slide</vt:lpstr>
      <vt:lpstr>highlighted text test slides </vt:lpstr>
      <vt:lpstr>strikethrough test slide</vt:lpstr>
      <vt:lpstr>table test slide</vt:lpstr>
      <vt:lpstr>PowerPoint プレゼンテーション</vt:lpstr>
      <vt:lpstr>table test slide りんご</vt:lpstr>
      <vt:lpstr>table test slide りんご</vt:lpstr>
      <vt:lpstr>text box test</vt:lpstr>
      <vt:lpstr>Space test</vt:lpstr>
      <vt:lpstr>complex table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哲 潮村</cp:lastModifiedBy>
  <cp:revision>12</cp:revision>
  <dcterms:created xsi:type="dcterms:W3CDTF">2013-01-27T09:14:16Z</dcterms:created>
  <dcterms:modified xsi:type="dcterms:W3CDTF">2026-01-20T07:12:04Z</dcterms:modified>
  <cp:category/>
</cp:coreProperties>
</file>