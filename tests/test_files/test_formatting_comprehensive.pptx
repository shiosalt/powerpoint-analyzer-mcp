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234B15FF-ED84-4EF1-8C07-A333BE2779FC}">
          <p14:sldIdLst>
            <p14:sldId id="256"/>
          </p14:sldIdLst>
        </p14:section>
        <p14:section name="セクション①" id="{63514C02-4EE5-4C57-A5F8-8882DB57A504}">
          <p14:sldIdLst>
            <p14:sldId id="257"/>
            <p14:sldId id="258"/>
            <p14:sldId id="259"/>
          </p14:sldIdLst>
        </p14:section>
        <p14:section name="セクション②" id="{9B43267F-A7AF-4451-BD95-6682E022F294}">
          <p14:sldIdLst>
            <p14:sldId id="260"/>
            <p14:sldId id="261"/>
            <p14:sldId id="262"/>
          </p14:sldIdLst>
        </p14:section>
        <p14:section name="highlighted_section" id="{22F9322E-043E-490B-AFDB-FFD7E64DEDFF}">
          <p14:sldIdLst>
            <p14:sldId id="263"/>
            <p14:sldId id="264"/>
          </p14:sldIdLst>
        </p14:section>
        <p14:section name="this is table section" id="{CE21AA40-69BB-454F-874D-E803C0BB72C9}">
          <p14:sldIdLst>
            <p14:sldId id="265"/>
            <p14:sldId id="266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6" d="100"/>
          <a:sy n="66" d="100"/>
        </p:scale>
        <p:origin x="2324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Bold Text Test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0"/>
              <a:t>This is </a:t>
            </a:r>
            <a:r>
              <a:rPr b="1"/>
              <a:t>bold text</a:t>
            </a:r>
            <a:r>
              <a:rPr b="0"/>
              <a:t> and this is normal text.</a:t>
            </a:r>
          </a:p>
          <a:p>
            <a:r>
              <a:rPr b="1"/>
              <a:t>This entire paragraph is bold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Italic Text Test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This text contains </a:t>
            </a:r>
            <a:r>
              <a:rPr i="1"/>
              <a:t>italic formatting</a:t>
            </a:r>
            <a:r>
              <a:t> in the middle.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Underlined Text Test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This text has </a:t>
            </a:r>
            <a:r>
              <a:rPr u="sng"/>
              <a:t>underlined sections</a:t>
            </a:r>
            <a:r>
              <a:t> for testing.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Mixed Formatting Test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This text has </a:t>
            </a:r>
            <a:r>
              <a:rPr b="1" i="1"/>
              <a:t>bold and italic</a:t>
            </a:r>
            <a:r>
              <a:t> formatting together.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Hyperlink Test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Visit our website for more information.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Font Size Test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000"/>
              <a:t>Small text </a:t>
            </a:r>
            <a:r>
              <a:rPr sz="1400"/>
              <a:t>Medium text </a:t>
            </a:r>
            <a:r>
              <a:rPr sz="1800"/>
              <a:t>Large text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Font Color Test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>
                <a:solidFill>
                  <a:srgbClr val="FF0000"/>
                </a:solidFill>
              </a:rPr>
              <a:t>Red text </a:t>
            </a:r>
            <a:r>
              <a:rPr>
                <a:solidFill>
                  <a:srgbClr val="0000FF"/>
                </a:solidFill>
              </a:rPr>
              <a:t>Blue text </a:t>
            </a:r>
            <a:r>
              <a:rPr>
                <a:solidFill>
                  <a:srgbClr val="00FF00"/>
                </a:solidFill>
              </a:rPr>
              <a:t>Green text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B9C3D4-4E2B-6A66-F3E8-90CB76B89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highlighted text test slides </a:t>
            </a:r>
            <a:endParaRPr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BD53647-4E47-D351-95F7-B2209DBF01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/>
              <a:t>this is </a:t>
            </a:r>
            <a:r>
              <a:rPr lang="en-US" altLang="ja-JP" dirty="0">
                <a:highlight>
                  <a:srgbClr val="FFFF00"/>
                </a:highlight>
              </a:rPr>
              <a:t>Highlighted</a:t>
            </a:r>
            <a:r>
              <a:rPr lang="en-US" altLang="ja-JP" dirty="0"/>
              <a:t> text.</a:t>
            </a:r>
          </a:p>
          <a:p>
            <a:endParaRPr lang="en-US" altLang="ja-JP" dirty="0"/>
          </a:p>
          <a:p>
            <a:r>
              <a:rPr lang="en-US" altLang="ja-JP" dirty="0"/>
              <a:t>this is </a:t>
            </a:r>
            <a:r>
              <a:rPr lang="en-US" altLang="ja-JP" dirty="0">
                <a:highlight>
                  <a:srgbClr val="000080"/>
                </a:highlight>
              </a:rPr>
              <a:t>Highlighted</a:t>
            </a:r>
            <a:r>
              <a:rPr lang="en-US" altLang="ja-JP" dirty="0"/>
              <a:t> text too.</a:t>
            </a:r>
          </a:p>
          <a:p>
            <a:endParaRPr lang="ja-JP" alt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099EFC-C32C-BF76-F1DC-AFA26DC68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strikethrough test slide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1072A46-F940-4873-4385-38CD32FD35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af-ZA" altLang="ja-JP" dirty="0"/>
              <a:t>this is a </a:t>
            </a:r>
            <a:r>
              <a:rPr kumimoji="1" lang="af-ZA" altLang="ja-JP" strike="sngStrike" dirty="0"/>
              <a:t>strikethroughed</a:t>
            </a:r>
            <a:r>
              <a:rPr kumimoji="1" lang="af-ZA" altLang="ja-JP" dirty="0"/>
              <a:t> text.</a:t>
            </a:r>
          </a:p>
          <a:p>
            <a:endParaRPr kumimoji="1" lang="en-US" altLang="ja-JP" dirty="0"/>
          </a:p>
          <a:p>
            <a:r>
              <a:rPr kumimoji="1" lang="af-ZA" altLang="ja-JP" dirty="0"/>
              <a:t>this is a </a:t>
            </a:r>
            <a:r>
              <a:rPr kumimoji="1" lang="af-ZA" altLang="ja-JP" strike="sngStrike" dirty="0"/>
              <a:t>strikethroughed</a:t>
            </a:r>
            <a:r>
              <a:rPr kumimoji="1" lang="af-ZA" altLang="ja-JP" dirty="0"/>
              <a:t> text,too.</a:t>
            </a:r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0723121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4904031-FFA4-E606-7E01-9533B2A28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table test slide</a:t>
            </a:r>
            <a:endParaRPr kumimoji="1" lang="ja-JP" altLang="en-US" dirty="0"/>
          </a:p>
        </p:txBody>
      </p:sp>
      <p:graphicFrame>
        <p:nvGraphicFramePr>
          <p:cNvPr id="4" name="コンテンツ プレースホルダー 3">
            <a:extLst>
              <a:ext uri="{FF2B5EF4-FFF2-40B4-BE49-F238E27FC236}">
                <a16:creationId xmlns:a16="http://schemas.microsoft.com/office/drawing/2014/main" id="{94CC4423-D757-B299-AE50-73FEADC0B47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3589353"/>
              </p:ext>
            </p:extLst>
          </p:nvPr>
        </p:nvGraphicFramePr>
        <p:xfrm>
          <a:off x="1676399" y="1920240"/>
          <a:ext cx="6851583" cy="177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2959">
                  <a:extLst>
                    <a:ext uri="{9D8B030D-6E8A-4147-A177-3AD203B41FA5}">
                      <a16:colId xmlns:a16="http://schemas.microsoft.com/office/drawing/2014/main" val="1433644907"/>
                    </a:ext>
                  </a:extLst>
                </a:gridCol>
                <a:gridCol w="3474763">
                  <a:extLst>
                    <a:ext uri="{9D8B030D-6E8A-4147-A177-3AD203B41FA5}">
                      <a16:colId xmlns:a16="http://schemas.microsoft.com/office/drawing/2014/main" val="1931103551"/>
                    </a:ext>
                  </a:extLst>
                </a:gridCol>
                <a:gridCol w="2283861">
                  <a:extLst>
                    <a:ext uri="{9D8B030D-6E8A-4147-A177-3AD203B41FA5}">
                      <a16:colId xmlns:a16="http://schemas.microsoft.com/office/drawing/2014/main" val="143344663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No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課題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補足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09104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保存倉庫毎の品質ばらつき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町田は温度管理不明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8945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輸入時のコンテナ毎の品質ばらつき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b3</a:t>
                      </a:r>
                      <a:r>
                        <a:rPr kumimoji="1" lang="ja-JP" altLang="en-US" dirty="0"/>
                        <a:t>と</a:t>
                      </a:r>
                      <a:r>
                        <a:rPr kumimoji="1" lang="en-US" altLang="ja-JP" dirty="0"/>
                        <a:t>e2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13975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2000" b="1" i="1" dirty="0">
                          <a:solidFill>
                            <a:srgbClr val="FF0000"/>
                          </a:solidFill>
                        </a:rPr>
                        <a:t>3</a:t>
                      </a:r>
                      <a:endParaRPr kumimoji="1" lang="ja-JP" altLang="en-US" sz="2000" b="1" i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2000" b="1" i="1" strike="noStrike" dirty="0"/>
                        <a:t>盗難対策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1" i="1" dirty="0">
                          <a:highlight>
                            <a:srgbClr val="FFFF00"/>
                          </a:highlight>
                        </a:rPr>
                        <a:t>b3</a:t>
                      </a:r>
                      <a:r>
                        <a:rPr kumimoji="1" lang="ja-JP" altLang="en-US" sz="2000" b="1" i="1" dirty="0">
                          <a:highlight>
                            <a:srgbClr val="FFFF00"/>
                          </a:highlight>
                        </a:rPr>
                        <a:t>で顕著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6636690"/>
                  </a:ext>
                </a:extLst>
              </a:tr>
            </a:tbl>
          </a:graphicData>
        </a:graphic>
      </p:graphicFrame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1530B41-99DA-BF5E-B4BD-C077E86A6813}"/>
              </a:ext>
            </a:extLst>
          </p:cNvPr>
          <p:cNvSpPr txBox="1"/>
          <p:nvPr/>
        </p:nvSpPr>
        <p:spPr>
          <a:xfrm>
            <a:off x="866274" y="1440217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バナナ</a:t>
            </a:r>
          </a:p>
        </p:txBody>
      </p:sp>
    </p:spTree>
    <p:extLst>
      <p:ext uri="{BB962C8B-B14F-4D97-AF65-F5344CB8AC3E}">
        <p14:creationId xmlns:p14="http://schemas.microsoft.com/office/powerpoint/2010/main" val="19071454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6DA134E-EE89-7489-E626-6D24722DD9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タイトルのないページ</a:t>
            </a:r>
          </a:p>
        </p:txBody>
      </p:sp>
    </p:spTree>
    <p:extLst>
      <p:ext uri="{BB962C8B-B14F-4D97-AF65-F5344CB8AC3E}">
        <p14:creationId xmlns:p14="http://schemas.microsoft.com/office/powerpoint/2010/main" val="7958069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06142-CFD4-956E-89F1-163615DC0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254C5C-DEA5-44C7-15F1-56FC63946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table test slide</a:t>
            </a:r>
            <a:r>
              <a:rPr kumimoji="1" lang="ja-JP" altLang="en-US" dirty="0"/>
              <a:t> りんご</a:t>
            </a:r>
          </a:p>
        </p:txBody>
      </p:sp>
      <p:graphicFrame>
        <p:nvGraphicFramePr>
          <p:cNvPr id="4" name="コンテンツ プレースホルダー 3">
            <a:extLst>
              <a:ext uri="{FF2B5EF4-FFF2-40B4-BE49-F238E27FC236}">
                <a16:creationId xmlns:a16="http://schemas.microsoft.com/office/drawing/2014/main" id="{18CD5D6E-FBB9-4FB1-9E72-95193951F5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77998238"/>
              </p:ext>
            </p:extLst>
          </p:nvPr>
        </p:nvGraphicFramePr>
        <p:xfrm>
          <a:off x="1455019" y="4521334"/>
          <a:ext cx="4937760" cy="204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1433644907"/>
                    </a:ext>
                  </a:extLst>
                </a:gridCol>
                <a:gridCol w="845419">
                  <a:extLst>
                    <a:ext uri="{9D8B030D-6E8A-4147-A177-3AD203B41FA5}">
                      <a16:colId xmlns:a16="http://schemas.microsoft.com/office/drawing/2014/main" val="1931103551"/>
                    </a:ext>
                  </a:extLst>
                </a:gridCol>
                <a:gridCol w="800501">
                  <a:extLst>
                    <a:ext uri="{9D8B030D-6E8A-4147-A177-3AD203B41FA5}">
                      <a16:colId xmlns:a16="http://schemas.microsoft.com/office/drawing/2014/main" val="259327195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143344663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head1</a:t>
                      </a:r>
                      <a:endParaRPr kumimoji="1" lang="ja-JP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dirty="0"/>
                        <a:t>head2</a:t>
                      </a:r>
                      <a:endParaRPr kumimoji="1" lang="ja-JP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head3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0910442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r>
                        <a:rPr kumimoji="1" lang="en-US" altLang="ja-JP" dirty="0"/>
                        <a:t>a1</a:t>
                      </a:r>
                      <a:br>
                        <a:rPr kumimoji="1" lang="en-US" altLang="ja-JP" dirty="0"/>
                      </a:br>
                      <a:r>
                        <a:rPr kumimoji="1" lang="en-US" altLang="ja-JP" dirty="0"/>
                        <a:t>a2</a:t>
                      </a:r>
                      <a:endParaRPr kumimoji="1" lang="ja-JP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a3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8945661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r>
                        <a:rPr kumimoji="1" lang="en-US" altLang="ja-JP" dirty="0"/>
                        <a:t>b1</a:t>
                      </a:r>
                      <a:endParaRPr kumimoji="1" lang="ja-JP" altLang="en-US" dirty="0"/>
                    </a:p>
                    <a:p>
                      <a:r>
                        <a:rPr kumimoji="1" lang="en-US" altLang="ja-JP" dirty="0"/>
                        <a:t>b2</a:t>
                      </a:r>
                      <a:endParaRPr kumimoji="1" lang="ja-JP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rowSpan="2">
                  <a:txBody>
                    <a:bodyPr/>
                    <a:lstStyle/>
                    <a:p>
                      <a:r>
                        <a:rPr kumimoji="1" lang="en-US" altLang="ja-JP" dirty="0"/>
                        <a:t>b3</a:t>
                      </a:r>
                      <a:endParaRPr kumimoji="1" lang="ja-JP" altLang="en-US" dirty="0"/>
                    </a:p>
                    <a:p>
                      <a:r>
                        <a:rPr kumimoji="1" lang="en-US" altLang="ja-JP" sz="2000" b="1" i="1" dirty="0">
                          <a:highlight>
                            <a:srgbClr val="FFFF00"/>
                          </a:highlight>
                        </a:rPr>
                        <a:t>C3</a:t>
                      </a:r>
                      <a:endParaRPr kumimoji="1" lang="ja-JP" altLang="en-US" sz="2000" b="1" i="1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13975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2000" b="1" i="1" dirty="0">
                          <a:solidFill>
                            <a:srgbClr val="FF0000"/>
                          </a:solidFill>
                        </a:rPr>
                        <a:t>C1</a:t>
                      </a:r>
                      <a:endParaRPr kumimoji="1" lang="ja-JP" altLang="en-US" sz="2000" b="1" i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1" i="1" strike="sngStrike" dirty="0"/>
                        <a:t>C2</a:t>
                      </a:r>
                      <a:endParaRPr kumimoji="1" lang="ja-JP" altLang="en-US" sz="2000" b="1" i="1" strike="sngStrike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1" i="1" strike="sngStrike" dirty="0"/>
                        <a:t>C2-2</a:t>
                      </a:r>
                      <a:endParaRPr kumimoji="1" lang="ja-JP" altLang="en-US" sz="2000" b="1" i="1" strike="sngStrik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FF000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kumimoji="1" lang="ja-JP" altLang="en-US" sz="2000" b="1" i="1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6636690"/>
                  </a:ext>
                </a:extLst>
              </a:tr>
            </a:tbl>
          </a:graphicData>
        </a:graphic>
      </p:graphicFrame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08EF5E2-B6B0-10ED-9BDB-8AB111AE10D0}"/>
              </a:ext>
            </a:extLst>
          </p:cNvPr>
          <p:cNvSpPr txBox="1"/>
          <p:nvPr/>
        </p:nvSpPr>
        <p:spPr>
          <a:xfrm>
            <a:off x="991402" y="2791326"/>
            <a:ext cx="1408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Table Name2</a:t>
            </a:r>
            <a:endParaRPr kumimoji="1" lang="ja-JP" altLang="en-US" dirty="0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925AFBB8-CA18-EC81-426D-540BD02A5A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8816485"/>
              </p:ext>
            </p:extLst>
          </p:nvPr>
        </p:nvGraphicFramePr>
        <p:xfrm>
          <a:off x="1119739" y="1313046"/>
          <a:ext cx="7562249" cy="284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9000">
                  <a:extLst>
                    <a:ext uri="{9D8B030D-6E8A-4147-A177-3AD203B41FA5}">
                      <a16:colId xmlns:a16="http://schemas.microsoft.com/office/drawing/2014/main" val="46205011"/>
                    </a:ext>
                  </a:extLst>
                </a:gridCol>
                <a:gridCol w="2259000">
                  <a:extLst>
                    <a:ext uri="{9D8B030D-6E8A-4147-A177-3AD203B41FA5}">
                      <a16:colId xmlns:a16="http://schemas.microsoft.com/office/drawing/2014/main" val="2222435913"/>
                    </a:ext>
                  </a:extLst>
                </a:gridCol>
                <a:gridCol w="3044249">
                  <a:extLst>
                    <a:ext uri="{9D8B030D-6E8A-4147-A177-3AD203B41FA5}">
                      <a16:colId xmlns:a16="http://schemas.microsoft.com/office/drawing/2014/main" val="1428640392"/>
                    </a:ext>
                  </a:extLst>
                </a:gridCol>
              </a:tblGrid>
              <a:tr h="343301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No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課題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補足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9817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在庫欠損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これ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5669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暖房費用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どれ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4415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問題が管理されていない</a:t>
                      </a:r>
                      <a:endParaRPr kumimoji="1" lang="en-US" altLang="ja-JP" dirty="0"/>
                    </a:p>
                    <a:p>
                      <a:r>
                        <a:rPr kumimoji="1" lang="en-US" altLang="ja-JP" dirty="0"/>
                        <a:t>[</a:t>
                      </a:r>
                      <a:r>
                        <a:rPr kumimoji="1" lang="ja-JP" altLang="en-US" dirty="0"/>
                        <a:t>問題管理</a:t>
                      </a:r>
                      <a:r>
                        <a:rPr kumimoji="1" lang="en-US" altLang="ja-JP" dirty="0"/>
                        <a:t>]</a:t>
                      </a:r>
                      <a:br>
                        <a:rPr kumimoji="1" lang="en-US" altLang="ja-JP" dirty="0"/>
                      </a:br>
                      <a:r>
                        <a:rPr kumimoji="1" lang="ja-JP" altLang="en-US" dirty="0"/>
                        <a:t>問題を管理する方法の確認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[</a:t>
                      </a:r>
                      <a:r>
                        <a:rPr kumimoji="1" lang="ja-JP" altLang="en-US" dirty="0"/>
                        <a:t>先月</a:t>
                      </a:r>
                      <a:r>
                        <a:rPr kumimoji="1" lang="en-US" altLang="ja-JP" dirty="0"/>
                        <a:t>]</a:t>
                      </a:r>
                      <a:br>
                        <a:rPr kumimoji="1" lang="en-US" altLang="ja-JP" dirty="0"/>
                      </a:br>
                      <a:r>
                        <a:rPr kumimoji="1" lang="ja-JP" altLang="en-US" dirty="0"/>
                        <a:t>まだでした</a:t>
                      </a:r>
                      <a:endParaRPr kumimoji="1" lang="en-US" altLang="ja-JP" dirty="0"/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/>
                        <a:t>[</a:t>
                      </a:r>
                      <a:r>
                        <a:rPr kumimoji="1" lang="ja-JP" altLang="en-US" dirty="0"/>
                        <a:t>今月</a:t>
                      </a:r>
                      <a:r>
                        <a:rPr kumimoji="1" lang="en-US" altLang="ja-JP" dirty="0"/>
                        <a:t>]</a:t>
                      </a:r>
                      <a:br>
                        <a:rPr kumimoji="1" lang="en-US" altLang="ja-JP" dirty="0"/>
                      </a:br>
                      <a:r>
                        <a:rPr kumimoji="1" lang="ja-JP" altLang="en-US" dirty="0"/>
                        <a:t>まだでした</a:t>
                      </a:r>
                      <a:br>
                        <a:rPr kumimoji="1" lang="en-US" altLang="ja-JP" dirty="0"/>
                      </a:br>
                      <a:r>
                        <a:rPr kumimoji="1" lang="en-US" altLang="ja-JP" dirty="0"/>
                        <a:t>[</a:t>
                      </a:r>
                      <a:r>
                        <a:rPr kumimoji="1" lang="ja-JP" altLang="en-US" dirty="0"/>
                        <a:t>残タスク</a:t>
                      </a:r>
                      <a:r>
                        <a:rPr kumimoji="1" lang="en-US" altLang="ja-JP" dirty="0"/>
                        <a:t>]</a:t>
                      </a:r>
                      <a:br>
                        <a:rPr kumimoji="1" lang="en-US" altLang="ja-JP" dirty="0"/>
                      </a:br>
                      <a:r>
                        <a:rPr kumimoji="1" lang="ja-JP" altLang="en-US" dirty="0"/>
                        <a:t>内容把握を再度行いたい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0416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2331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092EB-CA66-DEF7-7EAE-DC5D8FFEF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583829-BF05-9016-CB80-D7A16882DB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table test slide</a:t>
            </a:r>
            <a:r>
              <a:rPr kumimoji="1" lang="ja-JP" altLang="en-US" dirty="0"/>
              <a:t> りんご</a:t>
            </a:r>
          </a:p>
        </p:txBody>
      </p:sp>
      <p:graphicFrame>
        <p:nvGraphicFramePr>
          <p:cNvPr id="4" name="コンテンツ プレースホルダー 3">
            <a:extLst>
              <a:ext uri="{FF2B5EF4-FFF2-40B4-BE49-F238E27FC236}">
                <a16:creationId xmlns:a16="http://schemas.microsoft.com/office/drawing/2014/main" id="{F04E2997-BA48-28B8-F99C-4D577CEF03B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44243168"/>
              </p:ext>
            </p:extLst>
          </p:nvPr>
        </p:nvGraphicFramePr>
        <p:xfrm>
          <a:off x="1872114" y="4727084"/>
          <a:ext cx="4937760" cy="204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1433644907"/>
                    </a:ext>
                  </a:extLst>
                </a:gridCol>
                <a:gridCol w="845419">
                  <a:extLst>
                    <a:ext uri="{9D8B030D-6E8A-4147-A177-3AD203B41FA5}">
                      <a16:colId xmlns:a16="http://schemas.microsoft.com/office/drawing/2014/main" val="1931103551"/>
                    </a:ext>
                  </a:extLst>
                </a:gridCol>
                <a:gridCol w="800501">
                  <a:extLst>
                    <a:ext uri="{9D8B030D-6E8A-4147-A177-3AD203B41FA5}">
                      <a16:colId xmlns:a16="http://schemas.microsoft.com/office/drawing/2014/main" val="259327195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143344663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head1</a:t>
                      </a:r>
                      <a:endParaRPr kumimoji="1" lang="ja-JP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dirty="0"/>
                        <a:t>head2</a:t>
                      </a:r>
                      <a:endParaRPr kumimoji="1" lang="ja-JP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head3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0910442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r>
                        <a:rPr kumimoji="1" lang="en-US" altLang="ja-JP" dirty="0"/>
                        <a:t>a1</a:t>
                      </a:r>
                      <a:br>
                        <a:rPr kumimoji="1" lang="en-US" altLang="ja-JP" dirty="0"/>
                      </a:br>
                      <a:r>
                        <a:rPr kumimoji="1" lang="en-US" altLang="ja-JP" dirty="0"/>
                        <a:t>a2</a:t>
                      </a:r>
                      <a:endParaRPr kumimoji="1" lang="ja-JP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a3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8945661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r>
                        <a:rPr kumimoji="1" lang="en-US" altLang="ja-JP" dirty="0"/>
                        <a:t>b1</a:t>
                      </a:r>
                      <a:endParaRPr kumimoji="1" lang="ja-JP" altLang="en-US" dirty="0"/>
                    </a:p>
                    <a:p>
                      <a:r>
                        <a:rPr kumimoji="1" lang="en-US" altLang="ja-JP" dirty="0"/>
                        <a:t>b2</a:t>
                      </a:r>
                      <a:endParaRPr kumimoji="1" lang="ja-JP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rowSpan="2">
                  <a:txBody>
                    <a:bodyPr/>
                    <a:lstStyle/>
                    <a:p>
                      <a:r>
                        <a:rPr kumimoji="1" lang="en-US" altLang="ja-JP" dirty="0"/>
                        <a:t>b3</a:t>
                      </a:r>
                      <a:endParaRPr kumimoji="1" lang="ja-JP" altLang="en-US" dirty="0"/>
                    </a:p>
                    <a:p>
                      <a:r>
                        <a:rPr kumimoji="1" lang="en-US" altLang="ja-JP" sz="2000" b="1" i="1" dirty="0">
                          <a:highlight>
                            <a:srgbClr val="FFFF00"/>
                          </a:highlight>
                        </a:rPr>
                        <a:t>C3</a:t>
                      </a:r>
                      <a:endParaRPr kumimoji="1" lang="ja-JP" altLang="en-US" sz="2000" b="1" i="1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13975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2000" b="1" i="1" dirty="0">
                          <a:solidFill>
                            <a:srgbClr val="FF0000"/>
                          </a:solidFill>
                        </a:rPr>
                        <a:t>C1</a:t>
                      </a:r>
                      <a:endParaRPr kumimoji="1" lang="ja-JP" altLang="en-US" sz="2000" b="1" i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1" i="1" strike="sngStrike" dirty="0"/>
                        <a:t>C2</a:t>
                      </a:r>
                      <a:endParaRPr kumimoji="1" lang="ja-JP" altLang="en-US" sz="2000" b="1" i="1" strike="sngStrike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1" i="1" strike="sngStrike" dirty="0"/>
                        <a:t>C2-2</a:t>
                      </a:r>
                      <a:endParaRPr kumimoji="1" lang="ja-JP" altLang="en-US" sz="2000" b="1" i="1" strike="sngStrik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FF000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kumimoji="1" lang="ja-JP" altLang="en-US" sz="2000" b="1" i="1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6636690"/>
                  </a:ext>
                </a:extLst>
              </a:tr>
            </a:tbl>
          </a:graphicData>
        </a:graphic>
      </p:graphicFrame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F69FE5D-7D89-E468-3FB7-E7DFEA2149BE}"/>
              </a:ext>
            </a:extLst>
          </p:cNvPr>
          <p:cNvSpPr txBox="1"/>
          <p:nvPr/>
        </p:nvSpPr>
        <p:spPr>
          <a:xfrm>
            <a:off x="565741" y="454241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補足事項</a:t>
            </a:r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671D0F53-BAFD-9102-358A-992554FC4F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836987"/>
              </p:ext>
            </p:extLst>
          </p:nvPr>
        </p:nvGraphicFramePr>
        <p:xfrm>
          <a:off x="1119739" y="1313046"/>
          <a:ext cx="7562249" cy="3662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9000">
                  <a:extLst>
                    <a:ext uri="{9D8B030D-6E8A-4147-A177-3AD203B41FA5}">
                      <a16:colId xmlns:a16="http://schemas.microsoft.com/office/drawing/2014/main" val="46205011"/>
                    </a:ext>
                  </a:extLst>
                </a:gridCol>
                <a:gridCol w="2259000">
                  <a:extLst>
                    <a:ext uri="{9D8B030D-6E8A-4147-A177-3AD203B41FA5}">
                      <a16:colId xmlns:a16="http://schemas.microsoft.com/office/drawing/2014/main" val="2222435913"/>
                    </a:ext>
                  </a:extLst>
                </a:gridCol>
                <a:gridCol w="3044249">
                  <a:extLst>
                    <a:ext uri="{9D8B030D-6E8A-4147-A177-3AD203B41FA5}">
                      <a16:colId xmlns:a16="http://schemas.microsoft.com/office/drawing/2014/main" val="1428640392"/>
                    </a:ext>
                  </a:extLst>
                </a:gridCol>
              </a:tblGrid>
              <a:tr h="343301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No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課題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補足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9817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加工用不足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社からのジャム用依頼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5669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運搬時の破損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運搬業者毎の破損率</a:t>
                      </a:r>
                      <a:endParaRPr kumimoji="1" lang="en-US" altLang="ja-JP" sz="1200" dirty="0"/>
                    </a:p>
                    <a:p>
                      <a:r>
                        <a:rPr kumimoji="1" lang="en-US" altLang="ja-JP" sz="1200" dirty="0"/>
                        <a:t>[</a:t>
                      </a:r>
                      <a:r>
                        <a:rPr kumimoji="1" lang="ja-JP" altLang="en-US" sz="1200" dirty="0"/>
                        <a:t>年間</a:t>
                      </a:r>
                      <a:r>
                        <a:rPr kumimoji="1" lang="en-US" altLang="ja-JP" sz="1200" dirty="0"/>
                        <a:t>]</a:t>
                      </a:r>
                    </a:p>
                    <a:p>
                      <a:r>
                        <a:rPr kumimoji="1" lang="en-US" altLang="ja-JP" sz="1200" dirty="0"/>
                        <a:t>ABC: 230kg(20t)</a:t>
                      </a:r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/>
                        <a:t>XYZ: 30kg(6t)</a:t>
                      </a:r>
                    </a:p>
                    <a:p>
                      <a:r>
                        <a:rPr kumimoji="1" lang="ja-JP" altLang="en-US" sz="1200" dirty="0"/>
                        <a:t>社有トラック</a:t>
                      </a:r>
                      <a:r>
                        <a:rPr kumimoji="1" lang="en-US" altLang="ja-JP" sz="1200" dirty="0"/>
                        <a:t>: 103kg(18t)</a:t>
                      </a:r>
                    </a:p>
                    <a:p>
                      <a:r>
                        <a:rPr kumimoji="1" lang="en-US" altLang="ja-JP" sz="1200" dirty="0"/>
                        <a:t>[</a:t>
                      </a:r>
                      <a:r>
                        <a:rPr kumimoji="1" lang="ja-JP" altLang="en-US" sz="1200" dirty="0"/>
                        <a:t>先月</a:t>
                      </a:r>
                      <a:r>
                        <a:rPr kumimoji="1" lang="en-US" altLang="ja-JP" sz="1200" dirty="0"/>
                        <a:t>]</a:t>
                      </a:r>
                    </a:p>
                    <a:p>
                      <a:r>
                        <a:rPr kumimoji="1" lang="en-US" altLang="ja-JP" sz="1200" dirty="0"/>
                        <a:t>ABC: 20kg(1t)</a:t>
                      </a:r>
                    </a:p>
                    <a:p>
                      <a:r>
                        <a:rPr kumimoji="1" lang="ja-JP" altLang="en-US" sz="1200" dirty="0"/>
                        <a:t>社有トラック</a:t>
                      </a:r>
                      <a:r>
                        <a:rPr kumimoji="1" lang="en-US" altLang="ja-JP" sz="1200" dirty="0"/>
                        <a:t>: 50kg(2t)</a:t>
                      </a:r>
                    </a:p>
                    <a:p>
                      <a:r>
                        <a:rPr kumimoji="1" lang="en-US" altLang="ja-JP" sz="1200" dirty="0"/>
                        <a:t>[</a:t>
                      </a:r>
                      <a:r>
                        <a:rPr kumimoji="1" lang="ja-JP" altLang="en-US" sz="1200" dirty="0"/>
                        <a:t>今月</a:t>
                      </a:r>
                      <a:r>
                        <a:rPr kumimoji="1" lang="en-US" altLang="ja-JP" sz="1200" dirty="0"/>
                        <a:t>]</a:t>
                      </a:r>
                    </a:p>
                    <a:p>
                      <a:r>
                        <a:rPr kumimoji="1" lang="en-US" altLang="ja-JP" sz="1200" dirty="0"/>
                        <a:t>ABC: 7kg(0.5t)</a:t>
                      </a:r>
                      <a:br>
                        <a:rPr kumimoji="1" lang="en-US" altLang="ja-JP" sz="1200" dirty="0"/>
                      </a:br>
                      <a:r>
                        <a:rPr kumimoji="1" lang="ja-JP" altLang="en-US" sz="1200" dirty="0"/>
                        <a:t>他は破損なし </a:t>
                      </a:r>
                      <a:r>
                        <a:rPr kumimoji="1" lang="en-US" altLang="ja-JP" sz="1200" dirty="0"/>
                        <a:t>(3t)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4415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収穫量が明確でない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/>
                        <a:t>先月までの記録が破棄</a:t>
                      </a:r>
                      <a:br>
                        <a:rPr kumimoji="1" lang="en-US" altLang="ja-JP" sz="1200" dirty="0"/>
                      </a:br>
                      <a:r>
                        <a:rPr kumimoji="1" lang="en-US" altLang="ja-JP" sz="1200" dirty="0"/>
                        <a:t>[</a:t>
                      </a:r>
                      <a:r>
                        <a:rPr kumimoji="1" lang="ja-JP" altLang="en-US" sz="1200" dirty="0"/>
                        <a:t>今月</a:t>
                      </a:r>
                      <a:r>
                        <a:rPr kumimoji="1" lang="en-US" altLang="ja-JP" sz="1200" dirty="0"/>
                        <a:t>]</a:t>
                      </a:r>
                      <a:br>
                        <a:rPr kumimoji="1" lang="en-US" altLang="ja-JP" sz="1200" dirty="0"/>
                      </a:br>
                      <a:r>
                        <a:rPr kumimoji="1" lang="en-US" altLang="ja-JP" sz="1200" dirty="0"/>
                        <a:t>30t</a:t>
                      </a:r>
                    </a:p>
                    <a:p>
                      <a:r>
                        <a:rPr kumimoji="1" lang="en-US" altLang="ja-JP" sz="1200" dirty="0"/>
                        <a:t>S,L,M</a:t>
                      </a:r>
                      <a:r>
                        <a:rPr kumimoji="1" lang="ja-JP" altLang="en-US" sz="1200" dirty="0"/>
                        <a:t>含む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0416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62542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352</Words>
  <Application>Microsoft Office PowerPoint</Application>
  <PresentationFormat>画面に合わせる (4:3)</PresentationFormat>
  <Paragraphs>102</Paragraphs>
  <Slides>13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Bold Text Test Slide</vt:lpstr>
      <vt:lpstr>Italic Text Test Slide</vt:lpstr>
      <vt:lpstr>Underlined Text Test Slide</vt:lpstr>
      <vt:lpstr>Mixed Formatting Test Slide</vt:lpstr>
      <vt:lpstr>Hyperlink Test Slide</vt:lpstr>
      <vt:lpstr>Font Size Test Slide</vt:lpstr>
      <vt:lpstr>Font Color Test Slide</vt:lpstr>
      <vt:lpstr>highlighted text test slides </vt:lpstr>
      <vt:lpstr>strikethrough test slide</vt:lpstr>
      <vt:lpstr>table test slide</vt:lpstr>
      <vt:lpstr>PowerPoint プレゼンテーション</vt:lpstr>
      <vt:lpstr>table test slide りんご</vt:lpstr>
      <vt:lpstr>table test slide りんご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哲 潮村</cp:lastModifiedBy>
  <cp:revision>8</cp:revision>
  <dcterms:created xsi:type="dcterms:W3CDTF">2013-01-27T09:14:16Z</dcterms:created>
  <dcterms:modified xsi:type="dcterms:W3CDTF">2026-01-09T14:03:46Z</dcterms:modified>
  <cp:category/>
</cp:coreProperties>
</file>